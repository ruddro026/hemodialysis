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6576000" cy="27432000"/>
  <p:notesSz cx="26974800" cy="36118800"/>
  <p:defaultTextStyle>
    <a:defPPr>
      <a:defRPr lang="en-US"/>
    </a:defPPr>
    <a:lvl1pPr marL="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1pPr>
    <a:lvl2pPr marL="18288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2pPr>
    <a:lvl3pPr marL="36576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3pPr>
    <a:lvl4pPr marL="54864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4pPr>
    <a:lvl5pPr marL="73152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5pPr>
    <a:lvl6pPr marL="91440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6pPr>
    <a:lvl7pPr marL="109728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7pPr>
    <a:lvl8pPr marL="128016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8pPr>
    <a:lvl9pPr marL="146304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2" clrIdx="0">
    <p:extLst>
      <p:ext uri="{19B8F6BF-5375-455C-9EA6-DF929625EA0E}">
        <p15:presenceInfo xmlns:p15="http://schemas.microsoft.com/office/powerpoint/2012/main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CC"/>
    <a:srgbClr val="DCE6F2"/>
    <a:srgbClr val="66FFFF"/>
    <a:srgbClr val="33CCFF"/>
    <a:srgbClr val="CC99FF"/>
    <a:srgbClr val="FFFF99"/>
    <a:srgbClr val="FFCC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79" autoAdjust="0"/>
    <p:restoredTop sz="94660"/>
  </p:normalViewPr>
  <p:slideViewPr>
    <p:cSldViewPr>
      <p:cViewPr>
        <p:scale>
          <a:sx n="26" d="100"/>
          <a:sy n="26" d="100"/>
        </p:scale>
        <p:origin x="1272" y="-365"/>
      </p:cViewPr>
      <p:guideLst>
        <p:guide orient="horz" pos="8640"/>
        <p:guide pos="115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1688763" cy="18113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279688" y="0"/>
            <a:ext cx="11688762" cy="18113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82521-270D-43B3-8942-E8D15B6D7904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60988" y="4514850"/>
            <a:ext cx="16252825" cy="1219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697163" y="17381538"/>
            <a:ext cx="21580475" cy="142224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4307463"/>
            <a:ext cx="11688763" cy="18113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279688" y="34307463"/>
            <a:ext cx="11688762" cy="18113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3CC24-BA35-4728-BC2B-11FB59E2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9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A3CC24-BA35-4728-BC2B-11FB59E287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69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8521703"/>
            <a:ext cx="31089600" cy="58801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5544800"/>
            <a:ext cx="25603200" cy="7010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14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252" y="17627602"/>
            <a:ext cx="31089600" cy="5448300"/>
          </a:xfrm>
        </p:spPr>
        <p:txBody>
          <a:bodyPr anchor="t"/>
          <a:lstStyle>
            <a:lvl1pPr algn="l">
              <a:defRPr sz="16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9252" y="11626854"/>
            <a:ext cx="31089600" cy="6000748"/>
          </a:xfrm>
        </p:spPr>
        <p:txBody>
          <a:bodyPr anchor="b"/>
          <a:lstStyle>
            <a:lvl1pPr marL="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1pPr>
            <a:lvl2pPr marL="18288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0" y="34137600"/>
            <a:ext cx="49072800" cy="96551752"/>
          </a:xfrm>
        </p:spPr>
        <p:txBody>
          <a:bodyPr/>
          <a:lstStyle>
            <a:lvl1pPr>
              <a:defRPr sz="11200"/>
            </a:lvl1pPr>
            <a:lvl2pPr>
              <a:defRPr sz="9600"/>
            </a:lvl2pPr>
            <a:lvl3pPr>
              <a:defRPr sz="800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168800" y="34137600"/>
            <a:ext cx="49072800" cy="96551752"/>
          </a:xfrm>
        </p:spPr>
        <p:txBody>
          <a:bodyPr/>
          <a:lstStyle>
            <a:lvl1pPr>
              <a:defRPr sz="11200"/>
            </a:lvl1pPr>
            <a:lvl2pPr>
              <a:defRPr sz="9600"/>
            </a:lvl2pPr>
            <a:lvl3pPr>
              <a:defRPr sz="800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098552"/>
            <a:ext cx="32918400" cy="457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0" y="6140452"/>
            <a:ext cx="16160752" cy="25590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8800" y="8699500"/>
            <a:ext cx="16160752" cy="15805152"/>
          </a:xfrm>
        </p:spPr>
        <p:txBody>
          <a:bodyPr/>
          <a:lstStyle>
            <a:lvl1pPr>
              <a:defRPr sz="9600"/>
            </a:lvl1pPr>
            <a:lvl2pPr>
              <a:defRPr sz="8000"/>
            </a:lvl2pPr>
            <a:lvl3pPr>
              <a:defRPr sz="720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80103" y="6140452"/>
            <a:ext cx="16167100" cy="25590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80103" y="8699500"/>
            <a:ext cx="16167100" cy="15805152"/>
          </a:xfrm>
        </p:spPr>
        <p:txBody>
          <a:bodyPr/>
          <a:lstStyle>
            <a:lvl1pPr>
              <a:defRPr sz="9600"/>
            </a:lvl1pPr>
            <a:lvl2pPr>
              <a:defRPr sz="8000"/>
            </a:lvl2pPr>
            <a:lvl3pPr>
              <a:defRPr sz="720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3" y="1092200"/>
            <a:ext cx="12033252" cy="4648200"/>
          </a:xfrm>
        </p:spPr>
        <p:txBody>
          <a:bodyPr anchor="b"/>
          <a:lstStyle>
            <a:lvl1pPr algn="l">
              <a:defRPr sz="8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00200" y="1092202"/>
            <a:ext cx="20447000" cy="23412452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3" y="5740402"/>
            <a:ext cx="12033252" cy="18764252"/>
          </a:xfrm>
        </p:spPr>
        <p:txBody>
          <a:bodyPr/>
          <a:lstStyle>
            <a:lvl1pPr marL="0" indent="0">
              <a:buNone/>
              <a:defRPr sz="5600"/>
            </a:lvl1pPr>
            <a:lvl2pPr marL="1828800" indent="0">
              <a:buNone/>
              <a:defRPr sz="4800"/>
            </a:lvl2pPr>
            <a:lvl3pPr marL="3657600" indent="0">
              <a:buNone/>
              <a:defRPr sz="4000"/>
            </a:lvl3pPr>
            <a:lvl4pPr marL="5486400" indent="0">
              <a:buNone/>
              <a:defRPr sz="3600"/>
            </a:lvl4pPr>
            <a:lvl5pPr marL="7315200" indent="0">
              <a:buNone/>
              <a:defRPr sz="3600"/>
            </a:lvl5pPr>
            <a:lvl6pPr marL="9144000" indent="0">
              <a:buNone/>
              <a:defRPr sz="3600"/>
            </a:lvl6pPr>
            <a:lvl7pPr marL="10972800" indent="0">
              <a:buNone/>
              <a:defRPr sz="3600"/>
            </a:lvl7pPr>
            <a:lvl8pPr marL="12801600" indent="0">
              <a:buNone/>
              <a:defRPr sz="3600"/>
            </a:lvl8pPr>
            <a:lvl9pPr marL="1463040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152" y="19202401"/>
            <a:ext cx="21945600" cy="2266952"/>
          </a:xfrm>
        </p:spPr>
        <p:txBody>
          <a:bodyPr anchor="b"/>
          <a:lstStyle>
            <a:lvl1pPr algn="l">
              <a:defRPr sz="8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69152" y="2451100"/>
            <a:ext cx="21945600" cy="16459200"/>
          </a:xfrm>
        </p:spPr>
        <p:txBody>
          <a:bodyPr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9152" y="21469353"/>
            <a:ext cx="21945600" cy="3219448"/>
          </a:xfrm>
        </p:spPr>
        <p:txBody>
          <a:bodyPr/>
          <a:lstStyle>
            <a:lvl1pPr marL="0" indent="0">
              <a:buNone/>
              <a:defRPr sz="5600"/>
            </a:lvl1pPr>
            <a:lvl2pPr marL="1828800" indent="0">
              <a:buNone/>
              <a:defRPr sz="4800"/>
            </a:lvl2pPr>
            <a:lvl3pPr marL="3657600" indent="0">
              <a:buNone/>
              <a:defRPr sz="4000"/>
            </a:lvl3pPr>
            <a:lvl4pPr marL="5486400" indent="0">
              <a:buNone/>
              <a:defRPr sz="3600"/>
            </a:lvl4pPr>
            <a:lvl5pPr marL="7315200" indent="0">
              <a:buNone/>
              <a:defRPr sz="3600"/>
            </a:lvl5pPr>
            <a:lvl6pPr marL="9144000" indent="0">
              <a:buNone/>
              <a:defRPr sz="3600"/>
            </a:lvl6pPr>
            <a:lvl7pPr marL="10972800" indent="0">
              <a:buNone/>
              <a:defRPr sz="3600"/>
            </a:lvl7pPr>
            <a:lvl8pPr marL="12801600" indent="0">
              <a:buNone/>
              <a:defRPr sz="3600"/>
            </a:lvl8pPr>
            <a:lvl9pPr marL="1463040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52800" y="5861055"/>
            <a:ext cx="24688800" cy="124828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0" y="5861055"/>
            <a:ext cx="73456800" cy="124828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0" y="1098552"/>
            <a:ext cx="32918400" cy="4572000"/>
          </a:xfrm>
          <a:prstGeom prst="rect">
            <a:avLst/>
          </a:prstGeom>
        </p:spPr>
        <p:txBody>
          <a:bodyPr vert="horz" lIns="365760" tIns="182880" rIns="36576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0" y="6400803"/>
            <a:ext cx="32918400" cy="18103852"/>
          </a:xfrm>
          <a:prstGeom prst="rect">
            <a:avLst/>
          </a:prstGeom>
        </p:spPr>
        <p:txBody>
          <a:bodyPr vert="horz" lIns="365760" tIns="182880" rIns="36576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8800" y="25425402"/>
            <a:ext cx="8534400" cy="1460500"/>
          </a:xfrm>
          <a:prstGeom prst="rect">
            <a:avLst/>
          </a:prstGeom>
        </p:spPr>
        <p:txBody>
          <a:bodyPr vert="horz" lIns="365760" tIns="182880" rIns="365760" bIns="18288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BD307-176B-4D78-836E-8019EAB19CFB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96800" y="25425402"/>
            <a:ext cx="11582400" cy="1460500"/>
          </a:xfrm>
          <a:prstGeom prst="rect">
            <a:avLst/>
          </a:prstGeom>
        </p:spPr>
        <p:txBody>
          <a:bodyPr vert="horz" lIns="365760" tIns="182880" rIns="365760" bIns="18288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212800" y="25425402"/>
            <a:ext cx="8534400" cy="1460500"/>
          </a:xfrm>
          <a:prstGeom prst="rect">
            <a:avLst/>
          </a:prstGeom>
        </p:spPr>
        <p:txBody>
          <a:bodyPr vert="horz" lIns="365760" tIns="182880" rIns="365760" bIns="18288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12EB1-2C5D-4A72-887F-565746342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657600" rtl="0" eaLnBrk="1" latinLnBrk="0" hangingPunct="1"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0" indent="-1371600" algn="l" defTabSz="3657600" rtl="0" eaLnBrk="1" latinLnBrk="0" hangingPunct="1">
        <a:spcBef>
          <a:spcPct val="20000"/>
        </a:spcBef>
        <a:buFont typeface="Arial" pitchFamily="34" charset="0"/>
        <a:buChar char="•"/>
        <a:defRPr sz="1280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0" indent="-1143000" algn="l" defTabSz="3657600" rtl="0" eaLnBrk="1" latinLnBrk="0" hangingPunct="1">
        <a:spcBef>
          <a:spcPct val="20000"/>
        </a:spcBef>
        <a:buFont typeface="Arial" pitchFamily="34" charset="0"/>
        <a:buChar char="–"/>
        <a:defRPr sz="1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spcBef>
          <a:spcPct val="20000"/>
        </a:spcBef>
        <a:buFont typeface="Arial" pitchFamily="34" charset="0"/>
        <a:buChar char="–"/>
        <a:defRPr sz="80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spcBef>
          <a:spcPct val="20000"/>
        </a:spcBef>
        <a:buFont typeface="Arial" pitchFamily="34" charset="0"/>
        <a:buChar char="»"/>
        <a:defRPr sz="80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spcBef>
          <a:spcPct val="20000"/>
        </a:spcBef>
        <a:buFont typeface="Arial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spcBef>
          <a:spcPct val="20000"/>
        </a:spcBef>
        <a:buFont typeface="Arial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spcBef>
          <a:spcPct val="20000"/>
        </a:spcBef>
        <a:buFont typeface="Arial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spcBef>
          <a:spcPct val="20000"/>
        </a:spcBef>
        <a:buFont typeface="Arial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1122"/>
          <p:cNvSpPr>
            <a:spLocks noChangeArrowheads="1"/>
          </p:cNvSpPr>
          <p:nvPr/>
        </p:nvSpPr>
        <p:spPr bwMode="auto">
          <a:xfrm>
            <a:off x="18467150" y="3970144"/>
            <a:ext cx="17071276" cy="14592315"/>
          </a:xfrm>
          <a:prstGeom prst="roundRect">
            <a:avLst>
              <a:gd name="adj" fmla="val 5427"/>
            </a:avLst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3762375"/>
            <a:endParaRPr lang="zh-CN" altLang="en-US" sz="4000" b="1">
              <a:latin typeface="Arial" pitchFamily="-65" charset="0"/>
              <a:ea typeface="宋体" pitchFamily="-65" charset="-122"/>
              <a:cs typeface="宋体" pitchFamily="-65" charset="-122"/>
            </a:endParaRPr>
          </a:p>
        </p:txBody>
      </p:sp>
      <p:sp>
        <p:nvSpPr>
          <p:cNvPr id="4" name="Text Box 995"/>
          <p:cNvSpPr txBox="1">
            <a:spLocks noChangeArrowheads="1"/>
          </p:cNvSpPr>
          <p:nvPr/>
        </p:nvSpPr>
        <p:spPr bwMode="auto">
          <a:xfrm>
            <a:off x="457200" y="26512771"/>
            <a:ext cx="35576933" cy="93387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376202" tIns="188101" rIns="376202" bIns="188101">
            <a:prstTxWarp prst="textNoShape">
              <a:avLst/>
            </a:prstTxWarp>
            <a:spAutoFit/>
          </a:bodyPr>
          <a:lstStyle/>
          <a:p>
            <a:pPr algn="ctr" defTabSz="3762375"/>
            <a:r>
              <a:rPr lang="en-US" altLang="zh-CN" sz="3600" b="1" i="1" dirty="0">
                <a:ea typeface="宋体" pitchFamily="-65" charset="-122"/>
                <a:cs typeface="宋体" pitchFamily="-65" charset="-122"/>
              </a:rPr>
              <a:t>Department of Biomedical  Engineering  			Khulna University of Engineering &amp;Technology (KUET), Khulna-9203, Bangladesh</a:t>
            </a:r>
          </a:p>
        </p:txBody>
      </p:sp>
      <p:sp>
        <p:nvSpPr>
          <p:cNvPr id="5" name="Text Box 996"/>
          <p:cNvSpPr txBox="1">
            <a:spLocks noChangeArrowheads="1"/>
          </p:cNvSpPr>
          <p:nvPr/>
        </p:nvSpPr>
        <p:spPr bwMode="auto">
          <a:xfrm>
            <a:off x="3279775" y="228600"/>
            <a:ext cx="30585504" cy="193899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Heparin Administration and Dialysate Control System with Real-time Monitoring of Patient Vital Indicator in Hemodialysis</a:t>
            </a:r>
            <a:endParaRPr lang="en-GB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1007"/>
          <p:cNvSpPr txBox="1">
            <a:spLocks noChangeArrowheads="1"/>
          </p:cNvSpPr>
          <p:nvPr/>
        </p:nvSpPr>
        <p:spPr bwMode="auto">
          <a:xfrm>
            <a:off x="3759201" y="2133600"/>
            <a:ext cx="29260800" cy="18158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defTabSz="3762375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Husain Hamid Chowdhury Ruddro</a:t>
            </a:r>
          </a:p>
          <a:p>
            <a:pPr algn="ctr" defTabSz="3762375"/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Supervisor: </a:t>
            </a:r>
            <a:r>
              <a:rPr lang="en-GB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Jeba</a:t>
            </a: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Fairooz</a:t>
            </a: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pPr algn="ctr" defTabSz="3762375"/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Biomedical </a:t>
            </a:r>
            <a:r>
              <a:rPr lang="en-GB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Engeering</a:t>
            </a:r>
            <a:endParaRPr lang="en-GB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3762375"/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KUET, Khulna-9203, Bangladesh</a:t>
            </a:r>
            <a:endParaRPr lang="en-US" altLang="zh-CN" sz="2800" b="1" dirty="0">
              <a:latin typeface="Times New Roman" panose="02020603050405020304" pitchFamily="18" charset="0"/>
              <a:ea typeface="宋体" pitchFamily="-65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1122"/>
          <p:cNvSpPr>
            <a:spLocks noChangeArrowheads="1"/>
          </p:cNvSpPr>
          <p:nvPr/>
        </p:nvSpPr>
        <p:spPr bwMode="auto">
          <a:xfrm>
            <a:off x="535543" y="3962400"/>
            <a:ext cx="17555665" cy="5340323"/>
          </a:xfrm>
          <a:prstGeom prst="roundRect">
            <a:avLst>
              <a:gd name="adj" fmla="val 6556"/>
            </a:avLst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3762375"/>
            <a:endParaRPr lang="zh-CN" altLang="en-US" sz="4000" dirty="0">
              <a:latin typeface="Arial" pitchFamily="-65" charset="0"/>
              <a:ea typeface="宋体" pitchFamily="-65" charset="-122"/>
              <a:cs typeface="宋体" pitchFamily="-65" charset="-122"/>
            </a:endParaRPr>
          </a:p>
        </p:txBody>
      </p:sp>
      <p:sp>
        <p:nvSpPr>
          <p:cNvPr id="8" name="Text Box 1123"/>
          <p:cNvSpPr txBox="1">
            <a:spLocks noChangeArrowheads="1"/>
          </p:cNvSpPr>
          <p:nvPr/>
        </p:nvSpPr>
        <p:spPr bwMode="auto">
          <a:xfrm>
            <a:off x="5283200" y="4114800"/>
            <a:ext cx="7391400" cy="769441"/>
          </a:xfrm>
          <a:prstGeom prst="rect">
            <a:avLst/>
          </a:prstGeom>
          <a:solidFill>
            <a:srgbClr val="CCFF9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defTabSz="3762375"/>
            <a:r>
              <a:rPr lang="en-US" altLang="zh-CN" sz="4400" b="1" dirty="0">
                <a:latin typeface="Times New Roman" panose="02020603050405020304" pitchFamily="18" charset="0"/>
                <a:ea typeface="宋体" pitchFamily="-65" charset="-122"/>
                <a:cs typeface="Times New Roman" panose="02020603050405020304" pitchFamily="18" charset="0"/>
              </a:rPr>
              <a:t>Introduction &amp; Motivation</a:t>
            </a:r>
          </a:p>
        </p:txBody>
      </p:sp>
      <p:sp>
        <p:nvSpPr>
          <p:cNvPr id="9" name="Text Box 1135"/>
          <p:cNvSpPr txBox="1">
            <a:spLocks noChangeArrowheads="1"/>
          </p:cNvSpPr>
          <p:nvPr/>
        </p:nvSpPr>
        <p:spPr bwMode="auto">
          <a:xfrm>
            <a:off x="1025830" y="4963734"/>
            <a:ext cx="1664662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457200" indent="-457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GB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Hemodialysis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treats kidney failure by filtering blood when the kidneys can't</a:t>
            </a:r>
            <a:r>
              <a:rPr lang="en-US" sz="28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. </a:t>
            </a:r>
          </a:p>
          <a:p>
            <a:pPr marL="457200" lvl="1" indent="-457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The </a:t>
            </a:r>
            <a:r>
              <a:rPr lang="en-US" sz="2800" dirty="0" smtClean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goal is </a:t>
            </a:r>
            <a:r>
              <a:rPr lang="en-US" sz="28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to provide low cost and easily accessible dialysis treatment for the kidney failure </a:t>
            </a:r>
            <a:r>
              <a:rPr lang="en-US" sz="2800" dirty="0" smtClean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patient.</a:t>
            </a:r>
          </a:p>
          <a:p>
            <a:pPr marL="457200" lvl="1" indent="-457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What</a:t>
            </a:r>
            <a:r>
              <a:rPr lang="en-US" sz="2800" dirty="0" smtClean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: This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cleanses the blood by removing toxins and excess fluids when the kidneys fail to do so adequately</a:t>
            </a:r>
            <a:endParaRPr lang="en-US" sz="2800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Who</a:t>
            </a:r>
            <a:r>
              <a:rPr lang="en-US" sz="2800" dirty="0" smtClean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: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Crucial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patients, medical professionals, engineers, regulators, investors, and community health advocates.</a:t>
            </a:r>
          </a:p>
          <a:p>
            <a:pPr marL="457200" indent="-457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GB" sz="2800" dirty="0" smtClean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How </a:t>
            </a:r>
            <a:r>
              <a:rPr lang="en-GB" sz="28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: Extracting the wastages from the blood using dialysate solution by the osmosis process </a:t>
            </a:r>
            <a:r>
              <a:rPr lang="en-GB" sz="2800" dirty="0" smtClean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.</a:t>
            </a:r>
            <a:endParaRPr lang="en-GB" sz="2800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Why: This </a:t>
            </a:r>
            <a:r>
              <a:rPr lang="en-GB" sz="2800" dirty="0" err="1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hemodialysis</a:t>
            </a:r>
            <a:r>
              <a:rPr lang="en-GB" sz="28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 machine is less expensive and very easy to carry compare to the existing </a:t>
            </a:r>
            <a:r>
              <a:rPr lang="en-GB" sz="2800" dirty="0" err="1" smtClean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hemodialysis</a:t>
            </a:r>
            <a:r>
              <a:rPr lang="en-GB" sz="2800" dirty="0" smtClean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machine.</a:t>
            </a:r>
            <a:endParaRPr lang="en-US" sz="2800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18" name="AutoShape 1122"/>
          <p:cNvSpPr>
            <a:spLocks noChangeArrowheads="1"/>
          </p:cNvSpPr>
          <p:nvPr/>
        </p:nvSpPr>
        <p:spPr bwMode="auto">
          <a:xfrm>
            <a:off x="18506488" y="22991924"/>
            <a:ext cx="16992599" cy="3551621"/>
          </a:xfrm>
          <a:prstGeom prst="roundRect">
            <a:avLst>
              <a:gd name="adj" fmla="val 10260"/>
            </a:avLst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514350" indent="-514350" defTabSz="3762375">
              <a:buFont typeface="Wingdings" panose="05000000000000000000" pitchFamily="2" charset="2"/>
              <a:buChar char="§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AutoShape 1122"/>
          <p:cNvSpPr>
            <a:spLocks noChangeArrowheads="1"/>
          </p:cNvSpPr>
          <p:nvPr/>
        </p:nvSpPr>
        <p:spPr bwMode="auto">
          <a:xfrm>
            <a:off x="18506488" y="18852483"/>
            <a:ext cx="16992599" cy="3956975"/>
          </a:xfrm>
          <a:prstGeom prst="roundRect">
            <a:avLst>
              <a:gd name="adj" fmla="val 8811"/>
            </a:avLst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3762375"/>
            <a:endParaRPr lang="zh-CN" altLang="en-US" sz="4000" b="1">
              <a:latin typeface="Arial" pitchFamily="-65" charset="0"/>
              <a:ea typeface="宋体" pitchFamily="-65" charset="-122"/>
              <a:cs typeface="宋体" pitchFamily="-65" charset="-122"/>
            </a:endParaRPr>
          </a:p>
        </p:txBody>
      </p:sp>
      <p:sp>
        <p:nvSpPr>
          <p:cNvPr id="22" name="Text Box 1123"/>
          <p:cNvSpPr txBox="1">
            <a:spLocks noChangeArrowheads="1"/>
          </p:cNvSpPr>
          <p:nvPr/>
        </p:nvSpPr>
        <p:spPr bwMode="auto">
          <a:xfrm>
            <a:off x="23706627" y="4191000"/>
            <a:ext cx="5791200" cy="769441"/>
          </a:xfrm>
          <a:prstGeom prst="rect">
            <a:avLst/>
          </a:prstGeom>
          <a:solidFill>
            <a:srgbClr val="CCFF9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defTabSz="3762375"/>
            <a:r>
              <a:rPr lang="en-US" altLang="zh-CN" sz="4400" b="1" dirty="0">
                <a:latin typeface="Times New Roman" panose="02020603050405020304" pitchFamily="18" charset="0"/>
                <a:ea typeface="宋体" pitchFamily="-65" charset="-122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23" name="Text Box 1123"/>
          <p:cNvSpPr txBox="1">
            <a:spLocks noChangeArrowheads="1"/>
          </p:cNvSpPr>
          <p:nvPr/>
        </p:nvSpPr>
        <p:spPr bwMode="auto">
          <a:xfrm>
            <a:off x="24843239" y="19084654"/>
            <a:ext cx="3810000" cy="769441"/>
          </a:xfrm>
          <a:prstGeom prst="rect">
            <a:avLst/>
          </a:prstGeom>
          <a:solidFill>
            <a:srgbClr val="CCFF9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defTabSz="3762375"/>
            <a:r>
              <a:rPr lang="en-US" altLang="zh-CN" sz="4400" b="1" dirty="0">
                <a:latin typeface="Times New Roman" panose="02020603050405020304" pitchFamily="18" charset="0"/>
                <a:ea typeface="宋体" pitchFamily="-65" charset="-122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4" name="Text Box 1123"/>
          <p:cNvSpPr txBox="1">
            <a:spLocks noChangeArrowheads="1"/>
          </p:cNvSpPr>
          <p:nvPr/>
        </p:nvSpPr>
        <p:spPr bwMode="auto">
          <a:xfrm>
            <a:off x="23888700" y="23224926"/>
            <a:ext cx="6096000" cy="769441"/>
          </a:xfrm>
          <a:prstGeom prst="rect">
            <a:avLst/>
          </a:prstGeom>
          <a:solidFill>
            <a:srgbClr val="CCFF9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defTabSz="3762375"/>
            <a:r>
              <a:rPr lang="en-US" altLang="zh-CN" sz="4400" b="1" dirty="0">
                <a:latin typeface="Times New Roman" panose="02020603050405020304" pitchFamily="18" charset="0"/>
                <a:ea typeface="宋体" pitchFamily="-65" charset="-122"/>
                <a:cs typeface="Times New Roman" panose="02020603050405020304" pitchFamily="18" charset="0"/>
              </a:rPr>
              <a:t>Acknowledgements</a:t>
            </a:r>
          </a:p>
        </p:txBody>
      </p:sp>
      <p:sp>
        <p:nvSpPr>
          <p:cNvPr id="3" name="AutoShape 4" descr="kuet logo এর ছবির ফলাফল"/>
          <p:cNvSpPr>
            <a:spLocks noChangeAspect="1" noChangeArrowheads="1"/>
          </p:cNvSpPr>
          <p:nvPr/>
        </p:nvSpPr>
        <p:spPr bwMode="auto">
          <a:xfrm>
            <a:off x="155575" y="-144463"/>
            <a:ext cx="4383948" cy="438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kuet logo এর ছবির ফলাফল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3678" y="352934"/>
            <a:ext cx="2507522" cy="313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3124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1915026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AutoShape 1122"/>
          <p:cNvSpPr>
            <a:spLocks noChangeArrowheads="1"/>
          </p:cNvSpPr>
          <p:nvPr/>
        </p:nvSpPr>
        <p:spPr bwMode="auto">
          <a:xfrm>
            <a:off x="535542" y="9480144"/>
            <a:ext cx="17555665" cy="7740586"/>
          </a:xfrm>
          <a:prstGeom prst="roundRect">
            <a:avLst>
              <a:gd name="adj" fmla="val 5427"/>
            </a:avLst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3762375"/>
            <a:endParaRPr lang="zh-CN" altLang="en-US" sz="4000" b="1">
              <a:latin typeface="Arial" pitchFamily="-65" charset="0"/>
              <a:ea typeface="宋体" pitchFamily="-65" charset="-122"/>
              <a:cs typeface="宋体" pitchFamily="-65" charset="-122"/>
            </a:endParaRPr>
          </a:p>
        </p:txBody>
      </p:sp>
      <p:sp>
        <p:nvSpPr>
          <p:cNvPr id="66" name="Text Box 1123">
            <a:extLst>
              <a:ext uri="{FF2B5EF4-FFF2-40B4-BE49-F238E27FC236}">
                <a16:creationId xmlns:a16="http://schemas.microsoft.com/office/drawing/2014/main" xmlns="" id="{0B733964-30E7-17E8-404F-2C4FB3F67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0977" y="9593759"/>
            <a:ext cx="5943601" cy="769441"/>
          </a:xfrm>
          <a:prstGeom prst="rect">
            <a:avLst/>
          </a:prstGeom>
          <a:solidFill>
            <a:srgbClr val="CCFF9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defTabSz="3762375"/>
            <a:r>
              <a:rPr lang="en-US" altLang="zh-CN" sz="4400" b="1" dirty="0">
                <a:latin typeface="Times New Roman" panose="02020603050405020304" pitchFamily="18" charset="0"/>
                <a:ea typeface="宋体" pitchFamily="-65" charset="-122"/>
                <a:cs typeface="Times New Roman" panose="02020603050405020304" pitchFamily="18" charset="0"/>
              </a:rPr>
              <a:t>Project Description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xmlns="" id="{74F5C1A6-06C5-A754-EDCB-A8B394E6DC6B}"/>
              </a:ext>
            </a:extLst>
          </p:cNvPr>
          <p:cNvSpPr/>
          <p:nvPr/>
        </p:nvSpPr>
        <p:spPr>
          <a:xfrm>
            <a:off x="1025830" y="11008150"/>
            <a:ext cx="3898406" cy="2408840"/>
          </a:xfrm>
          <a:prstGeom prst="flowChartAlternateProcess">
            <a:avLst/>
          </a:prstGeom>
          <a:solidFill>
            <a:srgbClr val="FFCCFF"/>
          </a:solidFill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xmlns="" id="{850CCF8F-DBA1-B57F-6F05-F4F2DF640806}"/>
              </a:ext>
            </a:extLst>
          </p:cNvPr>
          <p:cNvSpPr/>
          <p:nvPr/>
        </p:nvSpPr>
        <p:spPr>
          <a:xfrm>
            <a:off x="5220890" y="11002036"/>
            <a:ext cx="3482599" cy="2414954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lowchart: Alternate Process 68">
            <a:extLst>
              <a:ext uri="{FF2B5EF4-FFF2-40B4-BE49-F238E27FC236}">
                <a16:creationId xmlns:a16="http://schemas.microsoft.com/office/drawing/2014/main" xmlns="" id="{F45A3A0A-1456-42BC-138A-10E29A761B1A}"/>
              </a:ext>
            </a:extLst>
          </p:cNvPr>
          <p:cNvSpPr/>
          <p:nvPr/>
        </p:nvSpPr>
        <p:spPr>
          <a:xfrm>
            <a:off x="8927108" y="11002036"/>
            <a:ext cx="3364992" cy="2414954"/>
          </a:xfrm>
          <a:prstGeom prst="flowChartAlternateProcess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lowchart: Alternate Process 69">
            <a:extLst>
              <a:ext uri="{FF2B5EF4-FFF2-40B4-BE49-F238E27FC236}">
                <a16:creationId xmlns:a16="http://schemas.microsoft.com/office/drawing/2014/main" xmlns="" id="{61E4C19A-72C5-2C0B-3257-86F683330BA3}"/>
              </a:ext>
            </a:extLst>
          </p:cNvPr>
          <p:cNvSpPr/>
          <p:nvPr/>
        </p:nvSpPr>
        <p:spPr>
          <a:xfrm>
            <a:off x="8546413" y="13974073"/>
            <a:ext cx="3745687" cy="2269551"/>
          </a:xfrm>
          <a:prstGeom prst="flowChartAlternateProcess">
            <a:avLst/>
          </a:prstGeom>
          <a:solidFill>
            <a:srgbClr val="FFFF99"/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lowchart: Alternate Process 70">
            <a:extLst>
              <a:ext uri="{FF2B5EF4-FFF2-40B4-BE49-F238E27FC236}">
                <a16:creationId xmlns:a16="http://schemas.microsoft.com/office/drawing/2014/main" xmlns="" id="{6C781CAD-E521-0EA1-6349-FF405ADA4A2E}"/>
              </a:ext>
            </a:extLst>
          </p:cNvPr>
          <p:cNvSpPr/>
          <p:nvPr/>
        </p:nvSpPr>
        <p:spPr>
          <a:xfrm>
            <a:off x="1025830" y="14009129"/>
            <a:ext cx="7304183" cy="2234496"/>
          </a:xfrm>
          <a:prstGeom prst="flowChartAlternateProcess">
            <a:avLst/>
          </a:prstGeom>
          <a:solidFill>
            <a:srgbClr val="66FFCC"/>
          </a:solidFill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030A20E2-8F4A-AF03-4240-FB5CF4DC7B78}"/>
              </a:ext>
            </a:extLst>
          </p:cNvPr>
          <p:cNvSpPr txBox="1"/>
          <p:nvPr/>
        </p:nvSpPr>
        <p:spPr>
          <a:xfrm>
            <a:off x="1243250" y="11096923"/>
            <a:ext cx="355085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GB" sz="2800" b="1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Two 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temperature sensors are connected to A0 and A1 pin of Arduino Mega</a:t>
            </a:r>
            <a:endParaRPr lang="en-US" sz="2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35AE4FD5-CE44-B903-CB8A-C5330893B95C}"/>
              </a:ext>
            </a:extLst>
          </p:cNvPr>
          <p:cNvSpPr txBox="1"/>
          <p:nvPr/>
        </p:nvSpPr>
        <p:spPr>
          <a:xfrm>
            <a:off x="5366268" y="11040820"/>
            <a:ext cx="3220028" cy="2397451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GB" sz="2800" b="1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Water 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level senor connected to the A2 pin that used for turning on the motor using relay</a:t>
            </a:r>
            <a:endParaRPr lang="en-US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CDE02494-D55D-7DE4-4BD5-18A7904EBB0C}"/>
              </a:ext>
            </a:extLst>
          </p:cNvPr>
          <p:cNvSpPr txBox="1"/>
          <p:nvPr/>
        </p:nvSpPr>
        <p:spPr>
          <a:xfrm>
            <a:off x="9141932" y="11128285"/>
            <a:ext cx="3036581" cy="193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GB" sz="2800" b="1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Water 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flow sensor connected to A8 pin that to the dialyzer</a:t>
            </a:r>
            <a:endParaRPr lang="en-US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0AA6FB09-8162-C212-E984-573275CADF5E}"/>
              </a:ext>
            </a:extLst>
          </p:cNvPr>
          <p:cNvSpPr txBox="1"/>
          <p:nvPr/>
        </p:nvSpPr>
        <p:spPr>
          <a:xfrm>
            <a:off x="8686800" y="14018845"/>
            <a:ext cx="3570386" cy="193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GB" sz="2800" b="1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Servo 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connected to the pin 11 and also powered by a 5v external power source </a:t>
            </a:r>
            <a:endParaRPr lang="en-US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1FA00011-59F2-E4D3-9D0B-433295DAE7DC}"/>
              </a:ext>
            </a:extLst>
          </p:cNvPr>
          <p:cNvSpPr txBox="1"/>
          <p:nvPr/>
        </p:nvSpPr>
        <p:spPr>
          <a:xfrm>
            <a:off x="1168544" y="14068723"/>
            <a:ext cx="696162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GB" sz="2800" b="1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extended section used Arduino Uno where the Heart Rate Sensor connected to A0 and pressure sensor’s OUT and SKT pin connected to 2 and 3 pin</a:t>
            </a:r>
            <a:endParaRPr lang="en-US" sz="2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3469" y="9982200"/>
            <a:ext cx="5152636" cy="7080054"/>
          </a:xfrm>
          <a:prstGeom prst="rect">
            <a:avLst/>
          </a:prstGeom>
        </p:spPr>
      </p:pic>
      <p:sp>
        <p:nvSpPr>
          <p:cNvPr id="77" name="AutoShape 1122"/>
          <p:cNvSpPr>
            <a:spLocks noChangeArrowheads="1"/>
          </p:cNvSpPr>
          <p:nvPr/>
        </p:nvSpPr>
        <p:spPr bwMode="auto">
          <a:xfrm>
            <a:off x="535542" y="17399928"/>
            <a:ext cx="17555666" cy="9174822"/>
          </a:xfrm>
          <a:prstGeom prst="roundRect">
            <a:avLst>
              <a:gd name="adj" fmla="val 8811"/>
            </a:avLst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3762375"/>
            <a:endParaRPr lang="zh-CN" altLang="en-US" sz="4000" b="1">
              <a:latin typeface="Arial" pitchFamily="-65" charset="0"/>
              <a:ea typeface="宋体" pitchFamily="-65" charset="-122"/>
              <a:cs typeface="宋体" pitchFamily="-65" charset="-122"/>
            </a:endParaRPr>
          </a:p>
        </p:txBody>
      </p:sp>
      <p:sp>
        <p:nvSpPr>
          <p:cNvPr id="78" name="Text Box 1123"/>
          <p:cNvSpPr txBox="1">
            <a:spLocks noChangeArrowheads="1"/>
          </p:cNvSpPr>
          <p:nvPr/>
        </p:nvSpPr>
        <p:spPr bwMode="auto">
          <a:xfrm>
            <a:off x="4677922" y="17522576"/>
            <a:ext cx="6273800" cy="769441"/>
          </a:xfrm>
          <a:prstGeom prst="rect">
            <a:avLst/>
          </a:prstGeom>
          <a:solidFill>
            <a:srgbClr val="CCFF9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defTabSz="3762375"/>
            <a:r>
              <a:rPr lang="en-US" altLang="zh-CN" sz="4400" b="1" dirty="0">
                <a:latin typeface="Times New Roman" panose="02020603050405020304" pitchFamily="18" charset="0"/>
                <a:ea typeface="宋体" pitchFamily="-65" charset="-122"/>
                <a:cs typeface="Times New Roman" panose="02020603050405020304" pitchFamily="18" charset="0"/>
              </a:rPr>
              <a:t>Materials &amp; Methods</a:t>
            </a: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664" y="18471216"/>
            <a:ext cx="8782591" cy="4988403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4346" y="22809458"/>
            <a:ext cx="6655376" cy="3683800"/>
          </a:xfrm>
          <a:prstGeom prst="rect">
            <a:avLst/>
          </a:prstGeom>
        </p:spPr>
      </p:pic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xmlns="" id="{DA1A5FEA-2330-36BE-D286-B88C87A5F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594452"/>
              </p:ext>
            </p:extLst>
          </p:nvPr>
        </p:nvGraphicFramePr>
        <p:xfrm>
          <a:off x="11251652" y="17526000"/>
          <a:ext cx="5791200" cy="89908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853">
                  <a:extLst>
                    <a:ext uri="{9D8B030D-6E8A-4147-A177-3AD203B41FA5}">
                      <a16:colId xmlns:a16="http://schemas.microsoft.com/office/drawing/2014/main" xmlns="" val="1653074094"/>
                    </a:ext>
                  </a:extLst>
                </a:gridCol>
                <a:gridCol w="1932347">
                  <a:extLst>
                    <a:ext uri="{9D8B030D-6E8A-4147-A177-3AD203B41FA5}">
                      <a16:colId xmlns:a16="http://schemas.microsoft.com/office/drawing/2014/main" xmlns="" val="1461942711"/>
                    </a:ext>
                  </a:extLst>
                </a:gridCol>
                <a:gridCol w="1912345">
                  <a:extLst>
                    <a:ext uri="{9D8B030D-6E8A-4147-A177-3AD203B41FA5}">
                      <a16:colId xmlns:a16="http://schemas.microsoft.com/office/drawing/2014/main" xmlns="" val="1271752807"/>
                    </a:ext>
                  </a:extLst>
                </a:gridCol>
                <a:gridCol w="1135655">
                  <a:extLst>
                    <a:ext uri="{9D8B030D-6E8A-4147-A177-3AD203B41FA5}">
                      <a16:colId xmlns:a16="http://schemas.microsoft.com/office/drawing/2014/main" xmlns="" val="3599129345"/>
                    </a:ext>
                  </a:extLst>
                </a:gridCol>
              </a:tblGrid>
              <a:tr h="6412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SL No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Component Name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Description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Quantity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247657134"/>
                  </a:ext>
                </a:extLst>
              </a:tr>
              <a:tr h="2963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Arduino Mega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Microcontroller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685909763"/>
                  </a:ext>
                </a:extLst>
              </a:tr>
              <a:tr h="2963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Arduino Nano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Microcontroller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653126840"/>
                  </a:ext>
                </a:extLst>
              </a:tr>
              <a:tr h="5927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Power Supply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12V-2A,9V-2A,5V-2A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 </a:t>
                      </a:r>
                      <a:r>
                        <a:rPr lang="en-GB" sz="2000" dirty="0" smtClean="0">
                          <a:effectLst/>
                        </a:rPr>
                        <a:t>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258345019"/>
                  </a:ext>
                </a:extLst>
              </a:tr>
              <a:tr h="8891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OLED display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.96’’ Inch 12c OLED Display</a:t>
                      </a:r>
                      <a:endParaRPr lang="en-US" sz="2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 </a:t>
                      </a:r>
                      <a:r>
                        <a:rPr lang="en-GB" sz="2000" dirty="0" smtClean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04985970"/>
                  </a:ext>
                </a:extLst>
              </a:tr>
              <a:tr h="3008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Dialyzer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     ----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102429755"/>
                  </a:ext>
                </a:extLst>
              </a:tr>
              <a:tr h="2963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Heater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  500W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636864695"/>
                  </a:ext>
                </a:extLst>
              </a:tr>
              <a:tr h="5927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Temperature Sensor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  DS18B20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859738421"/>
                  </a:ext>
                </a:extLst>
              </a:tr>
              <a:tr h="5927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8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Water Flow Sensor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G1/2" Water Flow Hall Sensor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45058335"/>
                  </a:ext>
                </a:extLst>
              </a:tr>
              <a:tr h="5927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9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Water level Sensor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DC3-5V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01699937"/>
                  </a:ext>
                </a:extLst>
              </a:tr>
              <a:tr h="2963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Pulse Sensor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   ----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172352957"/>
                  </a:ext>
                </a:extLst>
              </a:tr>
              <a:tr h="5927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Air Pressure Sensor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  HX710B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62142028"/>
                  </a:ext>
                </a:extLst>
              </a:tr>
              <a:tr h="2963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Pump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  12v Dc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2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7910580"/>
                  </a:ext>
                </a:extLst>
              </a:tr>
              <a:tr h="2963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Relay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      ----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2340032"/>
                  </a:ext>
                </a:extLst>
              </a:tr>
              <a:tr h="2963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Servo Motor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  MG996R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566247875"/>
                  </a:ext>
                </a:extLst>
              </a:tr>
              <a:tr h="5796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Jumper Wire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      ----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As required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16740876"/>
                  </a:ext>
                </a:extLst>
              </a:tr>
              <a:tr h="8374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16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Hemodialysis Blood Tubing Set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      ----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200373612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7271" y="14567561"/>
            <a:ext cx="5330929" cy="35769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044" y="5181600"/>
            <a:ext cx="3446494" cy="462212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6026" y="9966124"/>
            <a:ext cx="3446494" cy="45586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8990733" y="20090572"/>
            <a:ext cx="165542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performed at a very low cost and was a compact machine for carrying anywhere.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a demo machine for the educational purpose.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level is comparatively low and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painful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Rechargeable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 will make it be able to operate anywhere and also make this fully automatic.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990733" y="24415192"/>
            <a:ext cx="148745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defTabSz="3762375">
              <a:buFont typeface="Wingdings" panose="05000000000000000000" pitchFamily="2" charset="2"/>
              <a:buChar char="§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Jeba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Fairooz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 Mam</a:t>
            </a:r>
          </a:p>
          <a:p>
            <a:pPr marL="514350" indent="-514350" defTabSz="3762375">
              <a:buFont typeface="Wingdings" panose="05000000000000000000" pitchFamily="2" charset="2"/>
              <a:buChar char="§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Special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to :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Abu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Shahid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Chowdhury Sir</a:t>
            </a:r>
          </a:p>
        </p:txBody>
      </p:sp>
      <p:pic>
        <p:nvPicPr>
          <p:cNvPr id="58" name="Picture 57"/>
          <p:cNvPicPr/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r="6743"/>
          <a:stretch/>
        </p:blipFill>
        <p:spPr bwMode="auto">
          <a:xfrm>
            <a:off x="18706068" y="5524124"/>
            <a:ext cx="10714052" cy="63581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9" name="Picture 58"/>
          <p:cNvPicPr/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9" r="6279"/>
          <a:stretch/>
        </p:blipFill>
        <p:spPr bwMode="auto">
          <a:xfrm>
            <a:off x="19054810" y="12064695"/>
            <a:ext cx="10365310" cy="607981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438</Words>
  <Application>Microsoft Office PowerPoint</Application>
  <PresentationFormat>Custom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宋体</vt:lpstr>
      <vt:lpstr>Arial</vt:lpstr>
      <vt:lpstr>Calibri</vt:lpstr>
      <vt:lpstr>PMingLiU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</dc:creator>
  <cp:lastModifiedBy>Microsoft account</cp:lastModifiedBy>
  <cp:revision>72</cp:revision>
  <cp:lastPrinted>2019-11-26T12:26:46Z</cp:lastPrinted>
  <dcterms:created xsi:type="dcterms:W3CDTF">2010-07-07T08:15:34Z</dcterms:created>
  <dcterms:modified xsi:type="dcterms:W3CDTF">2025-01-24T17:09:37Z</dcterms:modified>
</cp:coreProperties>
</file>